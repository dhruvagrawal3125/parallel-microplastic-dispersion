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IT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T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411480"/>
            <a:ext cx="10881360" cy="1188720"/>
          </a:xfrm>
          <a:prstGeom prst="rect">
            <a:avLst/>
          </a:prstGeom>
          <a:noFill/>
          <a:ln/>
        </p:spPr>
        <p:txBody>
          <a:bodyPr wrap="square" rtlCol="0" anchor="ctr"/>
          <a:lstStyle/>
          <a:p>
            <a:pPr algn="ctr" indent="0" marL="0">
              <a:buNone/>
            </a:pPr>
            <a:r>
              <a:rPr lang="en-US" sz="3600" b="1" u="sng" dirty="0">
                <a:solidFill>
                  <a:srgbClr val="000000"/>
                </a:solidFill>
                <a:latin typeface="Calibri" pitchFamily="34" charset="0"/>
                <a:ea typeface="Calibri" pitchFamily="34" charset="-122"/>
                <a:cs typeface="Calibri" pitchFamily="34" charset="-120"/>
              </a:rPr>
              <a:t>Parallel Simulation of Microplastic Dispersion Using Ocean Current Data</a:t>
            </a:r>
            <a:endParaRPr lang="en-US" sz="3600" dirty="0"/>
          </a:p>
        </p:txBody>
      </p:sp>
      <p:pic>
        <p:nvPicPr>
          <p:cNvPr id="3" name="Image 0" descr="logo.png">    </p:cNvPr>
          <p:cNvPicPr>
            <a:picLocks noChangeAspect="1"/>
          </p:cNvPicPr>
          <p:nvPr/>
        </p:nvPicPr>
        <p:blipFill>
          <a:blip r:embed="rId1"/>
          <a:stretch>
            <a:fillRect/>
          </a:stretch>
        </p:blipFill>
        <p:spPr>
          <a:xfrm>
            <a:off x="1325880" y="2743200"/>
            <a:ext cx="2788920" cy="2587752"/>
          </a:xfrm>
          <a:prstGeom prst="rect">
            <a:avLst/>
          </a:prstGeom>
        </p:spPr>
      </p:pic>
      <p:sp>
        <p:nvSpPr>
          <p:cNvPr id="4" name="Text 1"/>
          <p:cNvSpPr/>
          <p:nvPr/>
        </p:nvSpPr>
        <p:spPr>
          <a:xfrm>
            <a:off x="4892040" y="3108960"/>
            <a:ext cx="6583680" cy="1920240"/>
          </a:xfrm>
          <a:prstGeom prst="rect">
            <a:avLst/>
          </a:prstGeom>
          <a:noFill/>
          <a:ln/>
        </p:spPr>
        <p:txBody>
          <a:bodyPr wrap="square" rtlCol="0" anchor="ctr"/>
          <a:lstStyle/>
          <a:p>
            <a:pPr algn="l" indent="0" marL="0">
              <a:lnSpc>
                <a:spcPct val="130000"/>
              </a:lnSpc>
              <a:buNone/>
            </a:pPr>
            <a:r>
              <a:rPr lang="en-US" sz="2700" b="1" u="sng" dirty="0">
                <a:solidFill>
                  <a:srgbClr val="000000"/>
                </a:solidFill>
                <a:latin typeface="Calibri" pitchFamily="34" charset="0"/>
                <a:ea typeface="Calibri" pitchFamily="34" charset="-122"/>
                <a:cs typeface="Calibri" pitchFamily="34" charset="-120"/>
              </a:rPr>
              <a:t>IT 301 - Parallel Computing</a:t>
            </a:r>
            <a:endParaRPr lang="en-US" sz="2700" dirty="0"/>
          </a:p>
          <a:p>
            <a:pPr algn="l" indent="0" marL="0">
              <a:lnSpc>
                <a:spcPct val="130000"/>
              </a:lnSpc>
              <a:buNone/>
            </a:pPr>
            <a:r>
              <a:rPr lang="en-US" sz="2700" b="1" u="sng" dirty="0">
                <a:solidFill>
                  <a:srgbClr val="000000"/>
                </a:solidFill>
                <a:latin typeface="Calibri" pitchFamily="34" charset="0"/>
                <a:ea typeface="Calibri" pitchFamily="34" charset="-122"/>
                <a:cs typeface="Calibri" pitchFamily="34" charset="-120"/>
              </a:rPr>
              <a:t>National Institute of Technology</a:t>
            </a:r>
            <a:endParaRPr lang="en-US" sz="2700" dirty="0"/>
          </a:p>
          <a:p>
            <a:pPr algn="l" indent="0" marL="0">
              <a:lnSpc>
                <a:spcPct val="130000"/>
              </a:lnSpc>
              <a:buNone/>
            </a:pPr>
            <a:r>
              <a:rPr lang="en-US" sz="2700" b="1" u="sng" dirty="0">
                <a:solidFill>
                  <a:srgbClr val="000000"/>
                </a:solidFill>
                <a:latin typeface="Calibri" pitchFamily="34" charset="0"/>
                <a:ea typeface="Calibri" pitchFamily="34" charset="-122"/>
                <a:cs typeface="Calibri" pitchFamily="34" charset="-120"/>
              </a:rPr>
              <a:t>Karnataka Surathkal</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11247120" cy="731520"/>
          </a:xfrm>
          <a:prstGeom prst="rect">
            <a:avLst/>
          </a:prstGeom>
          <a:noFill/>
          <a:ln/>
        </p:spPr>
        <p:txBody>
          <a:bodyPr wrap="square" rtlCol="0" anchor="ctr"/>
          <a:lstStyle/>
          <a:p>
            <a:pPr algn="ctr" indent="0" marL="0">
              <a:buNone/>
            </a:pPr>
            <a:r>
              <a:rPr lang="en-US" sz="4000" b="1" u="sng" dirty="0">
                <a:solidFill>
                  <a:srgbClr val="000000"/>
                </a:solidFill>
                <a:latin typeface="Calibri" pitchFamily="34" charset="0"/>
                <a:ea typeface="Calibri" pitchFamily="34" charset="-122"/>
                <a:cs typeface="Calibri" pitchFamily="34" charset="-120"/>
              </a:rPr>
              <a:t>INTRODUCTION</a:t>
            </a:r>
            <a:endParaRPr lang="en-US" sz="4000" dirty="0"/>
          </a:p>
        </p:txBody>
      </p:sp>
      <p:sp>
        <p:nvSpPr>
          <p:cNvPr id="3" name="Text 1"/>
          <p:cNvSpPr/>
          <p:nvPr/>
        </p:nvSpPr>
        <p:spPr>
          <a:xfrm>
            <a:off x="731520" y="1645920"/>
            <a:ext cx="5760720" cy="4206240"/>
          </a:xfrm>
          <a:prstGeom prst="rect">
            <a:avLst/>
          </a:prstGeom>
          <a:noFill/>
          <a:ln/>
        </p:spPr>
        <p:txBody>
          <a:bodyPr wrap="square" rtlCol="0" anchor="t"/>
          <a:lstStyle/>
          <a:p>
            <a:pPr marL="342900" indent="-342900">
              <a:spcAft>
                <a:spcPts val="2000"/>
              </a:spcAft>
              <a:buSzPct val="100000"/>
              <a:buChar char="•"/>
            </a:pPr>
            <a:r>
              <a:rPr lang="en-US" sz="2200" dirty="0">
                <a:solidFill>
                  <a:srgbClr val="000000"/>
                </a:solidFill>
                <a:latin typeface="Calibri" pitchFamily="34" charset="0"/>
                <a:ea typeface="Calibri" pitchFamily="34" charset="-122"/>
                <a:cs typeface="Calibri" pitchFamily="34" charset="-120"/>
              </a:rPr>
              <a:t>Microplastic in every ocean basin</a:t>
            </a:r>
            <a:endParaRPr lang="en-US" sz="2200" dirty="0"/>
          </a:p>
          <a:p>
            <a:pPr marL="342900" indent="-342900">
              <a:spcAft>
                <a:spcPts val="2000"/>
              </a:spcAft>
              <a:buSzPct val="100000"/>
              <a:buChar char="•"/>
            </a:pPr>
            <a:r>
              <a:rPr lang="en-US" sz="2200" dirty="0">
                <a:solidFill>
                  <a:srgbClr val="000000"/>
                </a:solidFill>
                <a:latin typeface="Calibri" pitchFamily="34" charset="0"/>
                <a:ea typeface="Calibri" pitchFamily="34" charset="-122"/>
                <a:cs typeface="Calibri" pitchFamily="34" charset="-120"/>
              </a:rPr>
              <a:t>Studied by Lagrangian particle tracking</a:t>
            </a:r>
            <a:endParaRPr lang="en-US" sz="2200" dirty="0"/>
          </a:p>
          <a:p>
            <a:pPr marL="342900" indent="-342900">
              <a:spcAft>
                <a:spcPts val="2000"/>
              </a:spcAft>
              <a:buSzPct val="100000"/>
              <a:buChar char="•"/>
            </a:pPr>
            <a:r>
              <a:rPr lang="en-US" sz="2200" dirty="0">
                <a:solidFill>
                  <a:srgbClr val="000000"/>
                </a:solidFill>
                <a:latin typeface="Calibri" pitchFamily="34" charset="0"/>
                <a:ea typeface="Calibri" pitchFamily="34" charset="-122"/>
                <a:cs typeface="Calibri" pitchFamily="34" charset="-120"/>
              </a:rPr>
              <a:t>Particles are passive tracers in a current field</a:t>
            </a:r>
            <a:endParaRPr lang="en-US" sz="2200" dirty="0"/>
          </a:p>
          <a:p>
            <a:pPr marL="342900" indent="-342900">
              <a:spcAft>
                <a:spcPts val="2000"/>
              </a:spcAft>
              <a:buSzPct val="100000"/>
              <a:buChar char="•"/>
            </a:pPr>
            <a:r>
              <a:rPr lang="en-US" sz="2200" dirty="0">
                <a:solidFill>
                  <a:srgbClr val="000000"/>
                </a:solidFill>
                <a:latin typeface="Calibri" pitchFamily="34" charset="0"/>
                <a:ea typeface="Calibri" pitchFamily="34" charset="-122"/>
                <a:cs typeface="Calibri" pitchFamily="34" charset="-120"/>
              </a:rPr>
              <a:t>Each particle advanced at every timestep</a:t>
            </a:r>
            <a:endParaRPr lang="en-US" sz="2200" dirty="0"/>
          </a:p>
          <a:p>
            <a:pPr marL="342900" indent="-342900">
              <a:spcAft>
                <a:spcPts val="2000"/>
              </a:spcAft>
              <a:buSzPct val="100000"/>
              <a:buChar char="•"/>
            </a:pPr>
            <a:r>
              <a:rPr lang="en-US" sz="2200" dirty="0">
                <a:solidFill>
                  <a:srgbClr val="000000"/>
                </a:solidFill>
                <a:latin typeface="Calibri" pitchFamily="34" charset="0"/>
                <a:ea typeface="Calibri" pitchFamily="34" charset="-122"/>
                <a:cs typeface="Calibri" pitchFamily="34" charset="-120"/>
              </a:rPr>
              <a:t>Velocity rebuilt by interpolation each step</a:t>
            </a:r>
            <a:endParaRPr lang="en-US" sz="2200" dirty="0"/>
          </a:p>
        </p:txBody>
      </p:sp>
      <p:sp>
        <p:nvSpPr>
          <p:cNvPr id="4" name="Text 2"/>
          <p:cNvSpPr/>
          <p:nvPr/>
        </p:nvSpPr>
        <p:spPr>
          <a:xfrm>
            <a:off x="7040880" y="1645920"/>
            <a:ext cx="4572000" cy="365760"/>
          </a:xfrm>
          <a:prstGeom prst="rect">
            <a:avLst/>
          </a:prstGeom>
          <a:noFill/>
          <a:ln/>
        </p:spPr>
        <p:txBody>
          <a:bodyPr wrap="square" lIns="0" tIns="0" rIns="0" bIns="0" rtlCol="0" anchor="ctr"/>
          <a:lstStyle/>
          <a:p>
            <a:pPr indent="0" marL="0">
              <a:buNone/>
            </a:pPr>
            <a:r>
              <a:rPr lang="en-US" sz="2200" dirty="0">
                <a:solidFill>
                  <a:srgbClr val="000000"/>
                </a:solidFill>
                <a:latin typeface="Calibri" pitchFamily="34" charset="0"/>
                <a:ea typeface="Calibri" pitchFamily="34" charset="-122"/>
                <a:cs typeface="Calibri" pitchFamily="34" charset="-120"/>
              </a:rPr>
              <a:t>PROBLEM STATEMENT</a:t>
            </a:r>
            <a:endParaRPr lang="en-US" sz="2200" dirty="0"/>
          </a:p>
        </p:txBody>
      </p:sp>
      <p:sp>
        <p:nvSpPr>
          <p:cNvPr id="5" name="Text 3"/>
          <p:cNvSpPr/>
          <p:nvPr/>
        </p:nvSpPr>
        <p:spPr>
          <a:xfrm>
            <a:off x="7040880" y="2194560"/>
            <a:ext cx="4572000" cy="3291840"/>
          </a:xfrm>
          <a:prstGeom prst="rect">
            <a:avLst/>
          </a:prstGeom>
          <a:noFill/>
          <a:ln/>
        </p:spPr>
        <p:txBody>
          <a:bodyPr wrap="square" rtlCol="0" anchor="t"/>
          <a:lstStyle/>
          <a:p>
            <a:pPr marL="342900" indent="-342900">
              <a:spcAft>
                <a:spcPts val="2000"/>
              </a:spcAft>
              <a:buSzPct val="100000"/>
              <a:buChar char="•"/>
            </a:pPr>
            <a:r>
              <a:rPr lang="en-US" sz="2100" dirty="0">
                <a:solidFill>
                  <a:srgbClr val="000000"/>
                </a:solidFill>
                <a:latin typeface="Calibri" pitchFamily="34" charset="0"/>
                <a:ea typeface="Calibri" pitchFamily="34" charset="-122"/>
                <a:cs typeface="Calibri" pitchFamily="34" charset="-120"/>
              </a:rPr>
              <a:t>Millions of particles, months of simulated time</a:t>
            </a:r>
            <a:endParaRPr lang="en-US" sz="2100" dirty="0"/>
          </a:p>
          <a:p>
            <a:pPr marL="342900" indent="-342900">
              <a:spcAft>
                <a:spcPts val="2000"/>
              </a:spcAft>
              <a:buSzPct val="100000"/>
              <a:buChar char="•"/>
            </a:pPr>
            <a:r>
              <a:rPr lang="en-US" sz="2100" dirty="0">
                <a:solidFill>
                  <a:srgbClr val="000000"/>
                </a:solidFill>
                <a:latin typeface="Calibri" pitchFamily="34" charset="0"/>
                <a:ea typeface="Calibri" pitchFamily="34" charset="-122"/>
                <a:cs typeface="Calibri" pitchFamily="34" charset="-120"/>
              </a:rPr>
              <a:t>Too slow to run serially</a:t>
            </a:r>
            <a:endParaRPr lang="en-US" sz="2100" dirty="0"/>
          </a:p>
          <a:p>
            <a:pPr marL="342900" indent="-342900">
              <a:spcAft>
                <a:spcPts val="2000"/>
              </a:spcAft>
              <a:buSzPct val="100000"/>
              <a:buChar char="•"/>
            </a:pPr>
            <a:r>
              <a:rPr lang="en-US" sz="2100" dirty="0">
                <a:solidFill>
                  <a:srgbClr val="000000"/>
                </a:solidFill>
                <a:latin typeface="Calibri" pitchFamily="34" charset="0"/>
                <a:ea typeface="Calibri" pitchFamily="34" charset="-122"/>
                <a:cs typeface="Calibri" pitchFamily="34" charset="-120"/>
              </a:rPr>
              <a:t>Need parallelism on ordinary hardware</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92608"/>
            <a:ext cx="11247120" cy="731520"/>
          </a:xfrm>
          <a:prstGeom prst="rect">
            <a:avLst/>
          </a:prstGeom>
          <a:noFill/>
          <a:ln/>
        </p:spPr>
        <p:txBody>
          <a:bodyPr wrap="square" rtlCol="0" anchor="ctr"/>
          <a:lstStyle/>
          <a:p>
            <a:pPr algn="ctr" indent="0" marL="0">
              <a:buNone/>
            </a:pPr>
            <a:r>
              <a:rPr lang="en-US" sz="4000" b="1" u="sng" dirty="0">
                <a:solidFill>
                  <a:srgbClr val="000000"/>
                </a:solidFill>
                <a:latin typeface="Calibri" pitchFamily="34" charset="0"/>
                <a:ea typeface="Calibri" pitchFamily="34" charset="-122"/>
                <a:cs typeface="Calibri" pitchFamily="34" charset="-120"/>
              </a:rPr>
              <a:t>BACKGROUND</a:t>
            </a:r>
            <a:endParaRPr lang="en-US" sz="4000" dirty="0"/>
          </a:p>
        </p:txBody>
      </p:sp>
      <p:sp>
        <p:nvSpPr>
          <p:cNvPr id="3" name="Text 1"/>
          <p:cNvSpPr/>
          <p:nvPr/>
        </p:nvSpPr>
        <p:spPr>
          <a:xfrm>
            <a:off x="731520" y="1188720"/>
            <a:ext cx="10972800" cy="329184"/>
          </a:xfrm>
          <a:prstGeom prst="rect">
            <a:avLst/>
          </a:prstGeom>
          <a:noFill/>
          <a:ln/>
        </p:spPr>
        <p:txBody>
          <a:bodyPr wrap="square" lIns="0" tIns="0" rIns="0" bIns="0" rtlCol="0" anchor="ctr"/>
          <a:lstStyle/>
          <a:p>
            <a:pPr indent="0" marL="0">
              <a:buNone/>
            </a:pPr>
            <a:r>
              <a:rPr lang="en-US" sz="2100" b="1" dirty="0">
                <a:solidFill>
                  <a:srgbClr val="000000"/>
                </a:solidFill>
                <a:latin typeface="Calibri" pitchFamily="34" charset="0"/>
                <a:ea typeface="Calibri" pitchFamily="34" charset="-122"/>
                <a:cs typeface="Calibri" pitchFamily="34" charset="-120"/>
              </a:rPr>
              <a:t>How the Simulation Works</a:t>
            </a:r>
            <a:endParaRPr lang="en-US" sz="2100" dirty="0"/>
          </a:p>
        </p:txBody>
      </p:sp>
      <p:sp>
        <p:nvSpPr>
          <p:cNvPr id="4" name="Text 2"/>
          <p:cNvSpPr/>
          <p:nvPr/>
        </p:nvSpPr>
        <p:spPr>
          <a:xfrm>
            <a:off x="1005840" y="1627632"/>
            <a:ext cx="10332720" cy="1737360"/>
          </a:xfrm>
          <a:prstGeom prst="rect">
            <a:avLst/>
          </a:prstGeom>
          <a:noFill/>
          <a:ln/>
        </p:spPr>
        <p:txBody>
          <a:bodyPr wrap="square" lIns="0" tIns="0" rIns="0" bIns="0" rtlCol="0" anchor="t"/>
          <a:lstStyle/>
          <a:p>
            <a:pPr indent="0" marL="0">
              <a:lnSpc>
                <a:spcPct val="112000"/>
              </a:lnSpc>
              <a:buNone/>
            </a:pPr>
            <a:r>
              <a:rPr lang="en-US" sz="1900" dirty="0">
                <a:solidFill>
                  <a:srgbClr val="000000"/>
                </a:solidFill>
                <a:latin typeface="Calibri" pitchFamily="34" charset="0"/>
                <a:ea typeface="Calibri" pitchFamily="34" charset="-122"/>
                <a:cs typeface="Calibri" pitchFamily="34" charset="-120"/>
              </a:rPr>
              <a:t>At each timestep the simulation keeps the two current-field time slices that bracket the model time. For every particle it interpolates the velocity bilinearly over the surrounding grid cells and linearly between those two slices, then advances the position with a fixed-step Runge–Kutta step. The positions are accumulated into a density grid, which becomes the dispersion map at the end of the run.</a:t>
            </a:r>
            <a:endParaRPr lang="en-US" sz="1900" dirty="0"/>
          </a:p>
        </p:txBody>
      </p:sp>
      <p:sp>
        <p:nvSpPr>
          <p:cNvPr id="5" name="Text 3"/>
          <p:cNvSpPr/>
          <p:nvPr/>
        </p:nvSpPr>
        <p:spPr>
          <a:xfrm>
            <a:off x="731520" y="3703320"/>
            <a:ext cx="521208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Existing Work</a:t>
            </a:r>
            <a:endParaRPr lang="en-US" sz="2100" dirty="0"/>
          </a:p>
        </p:txBody>
      </p:sp>
      <p:sp>
        <p:nvSpPr>
          <p:cNvPr id="6" name="Text 4"/>
          <p:cNvSpPr/>
          <p:nvPr/>
        </p:nvSpPr>
        <p:spPr>
          <a:xfrm>
            <a:off x="1005840" y="4114800"/>
            <a:ext cx="4937760" cy="2377440"/>
          </a:xfrm>
          <a:prstGeom prst="rect">
            <a:avLst/>
          </a:prstGeom>
          <a:noFill/>
          <a:ln/>
        </p:spPr>
        <p:txBody>
          <a:bodyPr wrap="square" rtlCol="0" anchor="t"/>
          <a:lstStyle/>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Lagrangian frameworks on reanalysis data</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Advection matches observed transport</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Used to locate the subtropical gyres</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Aim is accuracy, not speed</a:t>
            </a:r>
            <a:endParaRPr lang="en-US" sz="1900" dirty="0"/>
          </a:p>
        </p:txBody>
      </p:sp>
      <p:sp>
        <p:nvSpPr>
          <p:cNvPr id="7" name="Text 5"/>
          <p:cNvSpPr/>
          <p:nvPr/>
        </p:nvSpPr>
        <p:spPr>
          <a:xfrm>
            <a:off x="6629400" y="3703320"/>
            <a:ext cx="493776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Research Gap</a:t>
            </a:r>
            <a:endParaRPr lang="en-US" sz="2100" dirty="0"/>
          </a:p>
        </p:txBody>
      </p:sp>
      <p:sp>
        <p:nvSpPr>
          <p:cNvPr id="8" name="Text 6"/>
          <p:cNvSpPr/>
          <p:nvPr/>
        </p:nvSpPr>
        <p:spPr>
          <a:xfrm>
            <a:off x="6903720" y="4114800"/>
            <a:ext cx="4663440" cy="2377440"/>
          </a:xfrm>
          <a:prstGeom prst="rect">
            <a:avLst/>
          </a:prstGeom>
          <a:noFill/>
          <a:ln/>
        </p:spPr>
        <p:txBody>
          <a:bodyPr wrap="square" rtlCol="0" anchor="t"/>
          <a:lstStyle/>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Advection run serially or on clusters</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Thread behaviour rarely reported</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Speedup and efficiency not published</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No matched serial-vs-parallel baseline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92608"/>
            <a:ext cx="11247120" cy="731520"/>
          </a:xfrm>
          <a:prstGeom prst="rect">
            <a:avLst/>
          </a:prstGeom>
          <a:noFill/>
          <a:ln/>
        </p:spPr>
        <p:txBody>
          <a:bodyPr wrap="square" rtlCol="0" anchor="ctr"/>
          <a:lstStyle/>
          <a:p>
            <a:pPr algn="ctr" indent="0" marL="0">
              <a:buNone/>
            </a:pPr>
            <a:r>
              <a:rPr lang="en-US" sz="4000" b="1" u="sng" dirty="0">
                <a:solidFill>
                  <a:srgbClr val="000000"/>
                </a:solidFill>
                <a:latin typeface="Calibri" pitchFamily="34" charset="0"/>
                <a:ea typeface="Calibri" pitchFamily="34" charset="-122"/>
                <a:cs typeface="Calibri" pitchFamily="34" charset="-120"/>
              </a:rPr>
              <a:t>METHODOLOGY</a:t>
            </a:r>
            <a:endParaRPr lang="en-US" sz="4000" dirty="0"/>
          </a:p>
        </p:txBody>
      </p:sp>
      <p:sp>
        <p:nvSpPr>
          <p:cNvPr id="3" name="Text 1"/>
          <p:cNvSpPr/>
          <p:nvPr/>
        </p:nvSpPr>
        <p:spPr>
          <a:xfrm>
            <a:off x="731520" y="1463040"/>
            <a:ext cx="539496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Building the Simulation</a:t>
            </a:r>
            <a:endParaRPr lang="en-US" sz="2100" dirty="0"/>
          </a:p>
        </p:txBody>
      </p:sp>
      <p:sp>
        <p:nvSpPr>
          <p:cNvPr id="4" name="Text 2"/>
          <p:cNvSpPr/>
          <p:nvPr/>
        </p:nvSpPr>
        <p:spPr>
          <a:xfrm>
            <a:off x="1005840" y="1920240"/>
            <a:ext cx="5120640" cy="4206240"/>
          </a:xfrm>
          <a:prstGeom prst="rect">
            <a:avLst/>
          </a:prstGeom>
          <a:noFill/>
          <a:ln/>
        </p:spPr>
        <p:txBody>
          <a:bodyPr wrap="square" rtlCol="0" anchor="t"/>
          <a:lstStyle/>
          <a:p>
            <a:pPr marL="342900" indent="-342900">
              <a:spcAft>
                <a:spcPts val="1800"/>
              </a:spcAft>
              <a:buSzPct val="100000"/>
              <a:buFont typeface="+mj-lt"/>
              <a:buAutoNum type="arabicPeriod" startAt="1"/>
            </a:pPr>
            <a:r>
              <a:rPr lang="en-US" sz="2000" dirty="0">
                <a:solidFill>
                  <a:srgbClr val="000000"/>
                </a:solidFill>
                <a:latin typeface="Calibri" pitchFamily="34" charset="0"/>
                <a:ea typeface="Calibri" pitchFamily="34" charset="-122"/>
                <a:cs typeface="Calibri" pitchFamily="34" charset="-120"/>
              </a:rPr>
              <a:t>Read ocean current data into a time-indexed velocity grid</a:t>
            </a:r>
            <a:endParaRPr lang="en-US" sz="2000" dirty="0"/>
          </a:p>
          <a:p>
            <a:pPr marL="342900" indent="-342900">
              <a:spcAft>
                <a:spcPts val="1800"/>
              </a:spcAft>
              <a:buSzPct val="100000"/>
              <a:buFont typeface="+mj-lt"/>
              <a:buAutoNum type="arabicPeriod" startAt="2"/>
            </a:pPr>
            <a:r>
              <a:rPr lang="en-US" sz="2000" dirty="0">
                <a:solidFill>
                  <a:srgbClr val="000000"/>
                </a:solidFill>
                <a:latin typeface="Calibri" pitchFamily="34" charset="0"/>
                <a:ea typeface="Calibri" pitchFamily="34" charset="-122"/>
                <a:cs typeface="Calibri" pitchFamily="34" charset="-120"/>
              </a:rPr>
              <a:t>Seed particles at chosen release points</a:t>
            </a:r>
            <a:endParaRPr lang="en-US" sz="2000" dirty="0"/>
          </a:p>
          <a:p>
            <a:pPr marL="342900" indent="-342900">
              <a:spcAft>
                <a:spcPts val="1800"/>
              </a:spcAft>
              <a:buSzPct val="100000"/>
              <a:buFont typeface="+mj-lt"/>
              <a:buAutoNum type="arabicPeriod" startAt="3"/>
            </a:pPr>
            <a:r>
              <a:rPr lang="en-US" sz="2000" dirty="0">
                <a:solidFill>
                  <a:srgbClr val="000000"/>
                </a:solidFill>
                <a:latin typeface="Calibri" pitchFamily="34" charset="0"/>
                <a:ea typeface="Calibri" pitchFamily="34" charset="-122"/>
                <a:cs typeface="Calibri" pitchFamily="34" charset="-120"/>
              </a:rPr>
              <a:t>Per timestep: interpolate velocity, take the Runge–Kutta step</a:t>
            </a:r>
            <a:endParaRPr lang="en-US" sz="2000" dirty="0"/>
          </a:p>
          <a:p>
            <a:pPr marL="342900" indent="-342900">
              <a:spcAft>
                <a:spcPts val="1800"/>
              </a:spcAft>
              <a:buSzPct val="100000"/>
              <a:buFont typeface="+mj-lt"/>
              <a:buAutoNum type="arabicPeriod" startAt="4"/>
            </a:pPr>
            <a:r>
              <a:rPr lang="en-US" sz="2000" dirty="0">
                <a:solidFill>
                  <a:srgbClr val="000000"/>
                </a:solidFill>
                <a:latin typeface="Calibri" pitchFamily="34" charset="0"/>
                <a:ea typeface="Calibri" pitchFamily="34" charset="-122"/>
                <a:cs typeface="Calibri" pitchFamily="34" charset="-120"/>
              </a:rPr>
              <a:t>Record positions into a density grid</a:t>
            </a:r>
            <a:endParaRPr lang="en-US" sz="2000" dirty="0"/>
          </a:p>
        </p:txBody>
      </p:sp>
      <p:sp>
        <p:nvSpPr>
          <p:cNvPr id="5" name="Text 3"/>
          <p:cNvSpPr/>
          <p:nvPr/>
        </p:nvSpPr>
        <p:spPr>
          <a:xfrm>
            <a:off x="6629400" y="1463040"/>
            <a:ext cx="493776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Parallelising and Measuring</a:t>
            </a:r>
            <a:endParaRPr lang="en-US" sz="2100" dirty="0"/>
          </a:p>
        </p:txBody>
      </p:sp>
      <p:sp>
        <p:nvSpPr>
          <p:cNvPr id="6" name="Text 4"/>
          <p:cNvSpPr/>
          <p:nvPr/>
        </p:nvSpPr>
        <p:spPr>
          <a:xfrm>
            <a:off x="6903720" y="1920240"/>
            <a:ext cx="4663440" cy="4206240"/>
          </a:xfrm>
          <a:prstGeom prst="rect">
            <a:avLst/>
          </a:prstGeom>
          <a:noFill/>
          <a:ln/>
        </p:spPr>
        <p:txBody>
          <a:bodyPr wrap="square" rtlCol="0" anchor="t"/>
          <a:lstStyle/>
          <a:p>
            <a:pPr marL="342900" indent="-342900">
              <a:spcAft>
                <a:spcPts val="1600"/>
              </a:spcAft>
              <a:buSzPct val="100000"/>
              <a:buChar char="•"/>
            </a:pPr>
            <a:r>
              <a:rPr lang="en-US" sz="2000" dirty="0">
                <a:solidFill>
                  <a:srgbClr val="000000"/>
                </a:solidFill>
                <a:latin typeface="Calibri" pitchFamily="34" charset="0"/>
                <a:ea typeface="Calibri" pitchFamily="34" charset="-122"/>
                <a:cs typeface="Calibri" pitchFamily="34" charset="-120"/>
              </a:rPr>
              <a:t>Write and verify the serial baseline first</a:t>
            </a:r>
            <a:endParaRPr lang="en-US" sz="2000" dirty="0"/>
          </a:p>
          <a:p>
            <a:pPr marL="342900" indent="-342900">
              <a:spcAft>
                <a:spcPts val="1600"/>
              </a:spcAft>
              <a:buSzPct val="100000"/>
              <a:buChar char="•"/>
            </a:pPr>
            <a:r>
              <a:rPr lang="en-US" sz="2000" dirty="0">
                <a:solidFill>
                  <a:srgbClr val="000000"/>
                </a:solidFill>
                <a:latin typeface="Calibri" pitchFamily="34" charset="0"/>
                <a:ea typeface="Calibri" pitchFamily="34" charset="-122"/>
                <a:cs typeface="Calibri" pitchFamily="34" charset="-120"/>
              </a:rPr>
              <a:t>Parallelise the particle loop with OpenMP</a:t>
            </a:r>
            <a:endParaRPr lang="en-US" sz="2000" dirty="0"/>
          </a:p>
          <a:p>
            <a:pPr marL="342900" indent="-342900">
              <a:spcAft>
                <a:spcPts val="1600"/>
              </a:spcAft>
              <a:buSzPct val="100000"/>
              <a:buChar char="•"/>
            </a:pPr>
            <a:r>
              <a:rPr lang="en-US" sz="2000" dirty="0">
                <a:solidFill>
                  <a:srgbClr val="000000"/>
                </a:solidFill>
                <a:latin typeface="Calibri" pitchFamily="34" charset="0"/>
                <a:ea typeface="Calibri" pitchFamily="34" charset="-122"/>
                <a:cs typeface="Calibri" pitchFamily="34" charset="-120"/>
              </a:rPr>
              <a:t>Keep density bins per-thread, merge at step end</a:t>
            </a:r>
            <a:endParaRPr lang="en-US" sz="2000" dirty="0"/>
          </a:p>
          <a:p>
            <a:pPr marL="342900" indent="-342900">
              <a:spcAft>
                <a:spcPts val="1600"/>
              </a:spcAft>
              <a:buSzPct val="100000"/>
              <a:buChar char="•"/>
            </a:pPr>
            <a:r>
              <a:rPr lang="en-US" sz="2000" dirty="0">
                <a:solidFill>
                  <a:srgbClr val="000000"/>
                </a:solidFill>
                <a:latin typeface="Calibri" pitchFamily="34" charset="0"/>
                <a:ea typeface="Calibri" pitchFamily="34" charset="-122"/>
                <a:cs typeface="Calibri" pitchFamily="34" charset="-120"/>
              </a:rPr>
              <a:t>Time both versions on identical inputs</a:t>
            </a:r>
            <a:endParaRPr lang="en-US" sz="2000" dirty="0"/>
          </a:p>
          <a:p>
            <a:pPr marL="342900" indent="-342900">
              <a:spcAft>
                <a:spcPts val="1600"/>
              </a:spcAft>
              <a:buSzPct val="100000"/>
              <a:buChar char="•"/>
            </a:pPr>
            <a:r>
              <a:rPr lang="en-US" sz="2000" dirty="0">
                <a:solidFill>
                  <a:srgbClr val="000000"/>
                </a:solidFill>
                <a:latin typeface="Calibri" pitchFamily="34" charset="0"/>
                <a:ea typeface="Calibri" pitchFamily="34" charset="-122"/>
                <a:cs typeface="Calibri" pitchFamily="34" charset="-120"/>
              </a:rPr>
              <a:t>Sweep particle count, resolution and thread count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92608"/>
            <a:ext cx="11247120" cy="731520"/>
          </a:xfrm>
          <a:prstGeom prst="rect">
            <a:avLst/>
          </a:prstGeom>
          <a:noFill/>
          <a:ln/>
        </p:spPr>
        <p:txBody>
          <a:bodyPr wrap="square" rtlCol="0" anchor="ctr"/>
          <a:lstStyle/>
          <a:p>
            <a:pPr algn="ctr" indent="0" marL="0">
              <a:buNone/>
            </a:pPr>
            <a:r>
              <a:rPr lang="en-US" sz="4000" b="1" u="sng" dirty="0">
                <a:solidFill>
                  <a:srgbClr val="000000"/>
                </a:solidFill>
                <a:latin typeface="Calibri" pitchFamily="34" charset="0"/>
                <a:ea typeface="Calibri" pitchFamily="34" charset="-122"/>
                <a:cs typeface="Calibri" pitchFamily="34" charset="-120"/>
              </a:rPr>
              <a:t>MOTIVATION / USE CASES</a:t>
            </a:r>
            <a:endParaRPr lang="en-US" sz="4000" dirty="0"/>
          </a:p>
        </p:txBody>
      </p:sp>
      <p:sp>
        <p:nvSpPr>
          <p:cNvPr id="3" name="Text 1"/>
          <p:cNvSpPr/>
          <p:nvPr/>
        </p:nvSpPr>
        <p:spPr>
          <a:xfrm>
            <a:off x="731520" y="1554480"/>
            <a:ext cx="539496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Why Runtime Is the Limit</a:t>
            </a:r>
            <a:endParaRPr lang="en-US" sz="2100" dirty="0"/>
          </a:p>
        </p:txBody>
      </p:sp>
      <p:sp>
        <p:nvSpPr>
          <p:cNvPr id="4" name="Text 2"/>
          <p:cNvSpPr/>
          <p:nvPr/>
        </p:nvSpPr>
        <p:spPr>
          <a:xfrm>
            <a:off x="1005840" y="2011680"/>
            <a:ext cx="5120640" cy="4023360"/>
          </a:xfrm>
          <a:prstGeom prst="rect">
            <a:avLst/>
          </a:prstGeom>
          <a:noFill/>
          <a:ln/>
        </p:spPr>
        <p:txBody>
          <a:bodyPr wrap="square" rtlCol="0" anchor="t"/>
          <a:lstStyle/>
          <a:p>
            <a:pPr marL="342900" indent="-342900">
              <a:spcAft>
                <a:spcPts val="1600"/>
              </a:spcAft>
              <a:buSzPct val="100000"/>
              <a:buChar char="•"/>
            </a:pPr>
            <a:r>
              <a:rPr lang="en-US" sz="2100" dirty="0">
                <a:solidFill>
                  <a:srgbClr val="000000"/>
                </a:solidFill>
                <a:latin typeface="Calibri" pitchFamily="34" charset="0"/>
                <a:ea typeface="Calibri" pitchFamily="34" charset="-122"/>
                <a:cs typeface="Calibri" pitchFamily="34" charset="-120"/>
              </a:rPr>
              <a:t>Cost = particles × timesteps</a:t>
            </a:r>
            <a:endParaRPr lang="en-US" sz="2100" dirty="0"/>
          </a:p>
          <a:p>
            <a:pPr marL="342900" indent="-342900">
              <a:spcAft>
                <a:spcPts val="1600"/>
              </a:spcAft>
              <a:buSzPct val="100000"/>
              <a:buChar char="•"/>
            </a:pPr>
            <a:r>
              <a:rPr lang="en-US" sz="2100" dirty="0">
                <a:solidFill>
                  <a:srgbClr val="000000"/>
                </a:solidFill>
                <a:latin typeface="Calibri" pitchFamily="34" charset="0"/>
                <a:ea typeface="Calibri" pitchFamily="34" charset="-122"/>
                <a:cs typeface="Calibri" pitchFamily="34" charset="-120"/>
              </a:rPr>
              <a:t>A serial run forces a cut:</a:t>
            </a:r>
            <a:endParaRPr lang="en-US" sz="2100" dirty="0"/>
          </a:p>
          <a:p>
            <a:pPr lvl="1" marL="685800" indent="-342900">
              <a:spcAft>
                <a:spcPts val="1600"/>
              </a:spcAft>
              <a:buSzPct val="100000"/>
              <a:buChar char="•"/>
            </a:pPr>
            <a:r>
              <a:rPr lang="en-US" sz="1800" dirty="0">
                <a:solidFill>
                  <a:srgbClr val="000000"/>
                </a:solidFill>
                <a:latin typeface="Calibri" pitchFamily="34" charset="0"/>
                <a:ea typeface="Calibri" pitchFamily="34" charset="-122"/>
                <a:cs typeface="Calibri" pitchFamily="34" charset="-120"/>
              </a:rPr>
              <a:t>fewer particles → noisy patterns</a:t>
            </a:r>
            <a:endParaRPr lang="en-US" sz="2100" dirty="0"/>
          </a:p>
          <a:p>
            <a:pPr lvl="1" marL="685800" indent="-342900">
              <a:spcAft>
                <a:spcPts val="1600"/>
              </a:spcAft>
              <a:buSzPct val="100000"/>
              <a:buChar char="•"/>
            </a:pPr>
            <a:r>
              <a:rPr lang="en-US" sz="1800" dirty="0">
                <a:solidFill>
                  <a:srgbClr val="000000"/>
                </a:solidFill>
                <a:latin typeface="Calibri" pitchFamily="34" charset="0"/>
                <a:ea typeface="Calibri" pitchFamily="34" charset="-122"/>
                <a:cs typeface="Calibri" pitchFamily="34" charset="-120"/>
              </a:rPr>
              <a:t>coarser grid → eddies lost</a:t>
            </a:r>
            <a:endParaRPr lang="en-US" sz="2100" dirty="0"/>
          </a:p>
          <a:p>
            <a:pPr marL="342900" indent="-342900">
              <a:spcAft>
                <a:spcPts val="1600"/>
              </a:spcAft>
              <a:buSzPct val="100000"/>
              <a:buChar char="•"/>
            </a:pPr>
            <a:r>
              <a:rPr lang="en-US" sz="2100" dirty="0">
                <a:solidFill>
                  <a:srgbClr val="000000"/>
                </a:solidFill>
                <a:latin typeface="Calibri" pitchFamily="34" charset="0"/>
                <a:ea typeface="Calibri" pitchFamily="34" charset="-122"/>
                <a:cs typeface="Calibri" pitchFamily="34" charset="-120"/>
              </a:rPr>
              <a:t>Sensitivity studies get dropped</a:t>
            </a:r>
            <a:endParaRPr lang="en-US" sz="2100" dirty="0"/>
          </a:p>
        </p:txBody>
      </p:sp>
      <p:sp>
        <p:nvSpPr>
          <p:cNvPr id="5" name="Text 3"/>
          <p:cNvSpPr/>
          <p:nvPr/>
        </p:nvSpPr>
        <p:spPr>
          <a:xfrm>
            <a:off x="6629400" y="1554480"/>
            <a:ext cx="493776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Who Benefits</a:t>
            </a:r>
            <a:endParaRPr lang="en-US" sz="2100" dirty="0"/>
          </a:p>
        </p:txBody>
      </p:sp>
      <p:sp>
        <p:nvSpPr>
          <p:cNvPr id="6" name="Text 4"/>
          <p:cNvSpPr/>
          <p:nvPr/>
        </p:nvSpPr>
        <p:spPr>
          <a:xfrm>
            <a:off x="6903720" y="2011680"/>
            <a:ext cx="4663440" cy="3291840"/>
          </a:xfrm>
          <a:prstGeom prst="rect">
            <a:avLst/>
          </a:prstGeom>
          <a:noFill/>
          <a:ln/>
        </p:spPr>
        <p:txBody>
          <a:bodyPr wrap="square" rtlCol="0" anchor="t"/>
          <a:lstStyle/>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Researchers — faster experiments</a:t>
            </a:r>
            <a:endParaRPr lang="en-US" sz="2100" dirty="0"/>
          </a:p>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Coastal agencies — beaching zones</a:t>
            </a:r>
            <a:endParaRPr lang="en-US" sz="2100" dirty="0"/>
          </a:p>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Policymakers — cleanup priorities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92608"/>
            <a:ext cx="11247120" cy="731520"/>
          </a:xfrm>
          <a:prstGeom prst="rect">
            <a:avLst/>
          </a:prstGeom>
          <a:noFill/>
          <a:ln/>
        </p:spPr>
        <p:txBody>
          <a:bodyPr wrap="square" rtlCol="0" anchor="ctr"/>
          <a:lstStyle/>
          <a:p>
            <a:pPr algn="ctr" indent="0" marL="0">
              <a:buNone/>
            </a:pPr>
            <a:r>
              <a:rPr lang="en-US" sz="4000" b="1" u="sng" dirty="0">
                <a:solidFill>
                  <a:srgbClr val="000000"/>
                </a:solidFill>
                <a:latin typeface="Calibri" pitchFamily="34" charset="0"/>
                <a:ea typeface="Calibri" pitchFamily="34" charset="-122"/>
                <a:cs typeface="Calibri" pitchFamily="34" charset="-120"/>
              </a:rPr>
              <a:t>NOVELTY</a:t>
            </a:r>
            <a:endParaRPr lang="en-US" sz="4000" dirty="0"/>
          </a:p>
        </p:txBody>
      </p:sp>
      <p:sp>
        <p:nvSpPr>
          <p:cNvPr id="3" name="Text 1"/>
          <p:cNvSpPr/>
          <p:nvPr/>
        </p:nvSpPr>
        <p:spPr>
          <a:xfrm>
            <a:off x="914400" y="1554480"/>
            <a:ext cx="10332720" cy="4754880"/>
          </a:xfrm>
          <a:prstGeom prst="rect">
            <a:avLst/>
          </a:prstGeom>
          <a:noFill/>
          <a:ln/>
        </p:spPr>
        <p:txBody>
          <a:bodyPr wrap="square" rtlCol="0" anchor="t"/>
          <a:lstStyle/>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The transport model is standard; the parallel implementation is where our work is.</a:t>
            </a:r>
            <a:endParaRPr lang="en-US" sz="2100" dirty="0"/>
          </a:p>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The novelty is in combining the two — a current-driven dispersion simulation built as a parallel program.</a:t>
            </a:r>
            <a:endParaRPr lang="en-US" sz="2100" dirty="0"/>
          </a:p>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The advection loop is parallelised over the particles with OpenMP, since they are independent within a timestep.</a:t>
            </a:r>
            <a:endParaRPr lang="en-US" sz="2100" dirty="0"/>
          </a:p>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Serial and parallel versions run on the same data and numerics, so the speedup is measured, not assumed.</a:t>
            </a:r>
            <a:endParaRPr lang="en-US" sz="2100" dirty="0"/>
          </a:p>
          <a:p>
            <a:pPr marL="342900" indent="-342900">
              <a:spcAft>
                <a:spcPts val="2200"/>
              </a:spcAft>
              <a:buSzPct val="100000"/>
              <a:buChar char="•"/>
            </a:pPr>
            <a:r>
              <a:rPr lang="en-US" sz="2100" dirty="0">
                <a:solidFill>
                  <a:srgbClr val="000000"/>
                </a:solidFill>
                <a:latin typeface="Calibri" pitchFamily="34" charset="0"/>
                <a:ea typeface="Calibri" pitchFamily="34" charset="-122"/>
                <a:cs typeface="Calibri" pitchFamily="34" charset="-120"/>
              </a:rPr>
              <a:t>Small code with no simulation framework, so the measured time belongs to the advection kernel.</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28600"/>
            <a:ext cx="11247120" cy="914400"/>
          </a:xfrm>
          <a:prstGeom prst="rect">
            <a:avLst/>
          </a:prstGeom>
          <a:noFill/>
          <a:ln/>
        </p:spPr>
        <p:txBody>
          <a:bodyPr wrap="square" rtlCol="0" anchor="ctr"/>
          <a:lstStyle/>
          <a:p>
            <a:pPr algn="ctr" indent="0" marL="0">
              <a:buNone/>
            </a:pPr>
            <a:r>
              <a:rPr lang="en-US" sz="3400" b="1" u="sng" dirty="0">
                <a:solidFill>
                  <a:srgbClr val="000000"/>
                </a:solidFill>
                <a:latin typeface="Calibri" pitchFamily="34" charset="0"/>
                <a:ea typeface="Calibri" pitchFamily="34" charset="-122"/>
                <a:cs typeface="Calibri" pitchFamily="34" charset="-120"/>
              </a:rPr>
              <a:t>EVALUATION PLAN &amp; EXPECTED CONTRIBUTIONS</a:t>
            </a:r>
            <a:endParaRPr lang="en-US" sz="3400" dirty="0"/>
          </a:p>
        </p:txBody>
      </p:sp>
      <p:sp>
        <p:nvSpPr>
          <p:cNvPr id="3" name="Text 1"/>
          <p:cNvSpPr/>
          <p:nvPr/>
        </p:nvSpPr>
        <p:spPr>
          <a:xfrm>
            <a:off x="731520" y="1371600"/>
            <a:ext cx="521208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Computational</a:t>
            </a:r>
            <a:endParaRPr lang="en-US" sz="2100" dirty="0"/>
          </a:p>
        </p:txBody>
      </p:sp>
      <p:sp>
        <p:nvSpPr>
          <p:cNvPr id="4" name="Text 2"/>
          <p:cNvSpPr/>
          <p:nvPr/>
        </p:nvSpPr>
        <p:spPr>
          <a:xfrm>
            <a:off x="1005840" y="1810512"/>
            <a:ext cx="4937760" cy="2011680"/>
          </a:xfrm>
          <a:prstGeom prst="rect">
            <a:avLst/>
          </a:prstGeom>
          <a:noFill/>
          <a:ln/>
        </p:spPr>
        <p:txBody>
          <a:bodyPr wrap="square" rtlCol="0" anchor="t"/>
          <a:lstStyle/>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Runtime, speedup, parallel efficiency</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Vary particles, resolution, threads</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Locate the scaling limit</a:t>
            </a:r>
            <a:endParaRPr lang="en-US" sz="1900" dirty="0"/>
          </a:p>
        </p:txBody>
      </p:sp>
      <p:sp>
        <p:nvSpPr>
          <p:cNvPr id="5" name="Text 3"/>
          <p:cNvSpPr/>
          <p:nvPr/>
        </p:nvSpPr>
        <p:spPr>
          <a:xfrm>
            <a:off x="6629400" y="1371600"/>
            <a:ext cx="4937760" cy="310896"/>
          </a:xfrm>
          <a:prstGeom prst="rect">
            <a:avLst/>
          </a:prstGeom>
          <a:noFill/>
          <a:ln/>
        </p:spPr>
        <p:txBody>
          <a:bodyPr wrap="square" lIns="0" tIns="0" rIns="0" bIns="0" rtlCol="0" anchor="ctr"/>
          <a:lstStyle/>
          <a:p>
            <a:pPr indent="0" marL="0">
              <a:buNone/>
            </a:pPr>
            <a:r>
              <a:rPr lang="en-US" sz="2100" u="sng" dirty="0">
                <a:solidFill>
                  <a:srgbClr val="000000"/>
                </a:solidFill>
                <a:latin typeface="Calibri" pitchFamily="34" charset="0"/>
                <a:ea typeface="Calibri" pitchFamily="34" charset="-122"/>
                <a:cs typeface="Calibri" pitchFamily="34" charset="-120"/>
              </a:rPr>
              <a:t>Physical</a:t>
            </a:r>
            <a:endParaRPr lang="en-US" sz="2100" dirty="0"/>
          </a:p>
        </p:txBody>
      </p:sp>
      <p:sp>
        <p:nvSpPr>
          <p:cNvPr id="6" name="Text 4"/>
          <p:cNvSpPr/>
          <p:nvPr/>
        </p:nvSpPr>
        <p:spPr>
          <a:xfrm>
            <a:off x="6903720" y="1810512"/>
            <a:ext cx="4663440" cy="2011680"/>
          </a:xfrm>
          <a:prstGeom prst="rect">
            <a:avLst/>
          </a:prstGeom>
          <a:noFill/>
          <a:ln/>
        </p:spPr>
        <p:txBody>
          <a:bodyPr wrap="square" rtlCol="0" anchor="t"/>
          <a:lstStyle/>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Patterns match current-driven transport</a:t>
            </a:r>
            <a:endParaRPr lang="en-US" sz="1900" dirty="0"/>
          </a:p>
          <a:p>
            <a:pPr marL="342900" indent="-342900">
              <a:spcAft>
                <a:spcPts val="1200"/>
              </a:spcAft>
              <a:buSzPct val="100000"/>
              <a:buChar char="•"/>
            </a:pPr>
            <a:r>
              <a:rPr lang="en-US" sz="1900" dirty="0">
                <a:solidFill>
                  <a:srgbClr val="000000"/>
                </a:solidFill>
                <a:latin typeface="Calibri" pitchFamily="34" charset="0"/>
                <a:ea typeface="Calibri" pitchFamily="34" charset="-122"/>
                <a:cs typeface="Calibri" pitchFamily="34" charset="-120"/>
              </a:rPr>
              <a:t>Parallel output agrees with serial</a:t>
            </a:r>
            <a:endParaRPr lang="en-US" sz="1900" dirty="0"/>
          </a:p>
        </p:txBody>
      </p:sp>
      <p:sp>
        <p:nvSpPr>
          <p:cNvPr id="7" name="Text 5"/>
          <p:cNvSpPr/>
          <p:nvPr/>
        </p:nvSpPr>
        <p:spPr>
          <a:xfrm>
            <a:off x="731520" y="3931920"/>
            <a:ext cx="10972800" cy="365760"/>
          </a:xfrm>
          <a:prstGeom prst="rect">
            <a:avLst/>
          </a:prstGeom>
          <a:noFill/>
          <a:ln/>
        </p:spPr>
        <p:txBody>
          <a:bodyPr wrap="square" lIns="0" tIns="0" rIns="0" bIns="0" rtlCol="0" anchor="ctr"/>
          <a:lstStyle/>
          <a:p>
            <a:pPr indent="0" marL="0">
              <a:buNone/>
            </a:pPr>
            <a:r>
              <a:rPr lang="en-US" sz="2100" b="1" u="sng" dirty="0">
                <a:solidFill>
                  <a:srgbClr val="000000"/>
                </a:solidFill>
                <a:latin typeface="Calibri" pitchFamily="34" charset="0"/>
                <a:ea typeface="Calibri" pitchFamily="34" charset="-122"/>
                <a:cs typeface="Calibri" pitchFamily="34" charset="-120"/>
              </a:rPr>
              <a:t>Expected Contributions</a:t>
            </a:r>
            <a:endParaRPr lang="en-US" sz="2100" dirty="0"/>
          </a:p>
        </p:txBody>
      </p:sp>
      <p:sp>
        <p:nvSpPr>
          <p:cNvPr id="8" name="Text 6"/>
          <p:cNvSpPr/>
          <p:nvPr/>
        </p:nvSpPr>
        <p:spPr>
          <a:xfrm>
            <a:off x="1005840" y="4434840"/>
            <a:ext cx="4937760" cy="1828800"/>
          </a:xfrm>
          <a:prstGeom prst="rect">
            <a:avLst/>
          </a:prstGeom>
          <a:noFill/>
          <a:ln/>
        </p:spPr>
        <p:txBody>
          <a:bodyPr wrap="square" rtlCol="0" anchor="t"/>
          <a:lstStyle/>
          <a:p>
            <a:pPr marL="342900" indent="-342900">
              <a:spcAft>
                <a:spcPts val="1600"/>
              </a:spcAft>
              <a:buSzPct val="100000"/>
              <a:buFont typeface="+mj-lt"/>
              <a:buAutoNum type="arabicPeriod" startAt="1"/>
            </a:pPr>
            <a:r>
              <a:rPr lang="en-US" sz="1900" dirty="0">
                <a:solidFill>
                  <a:srgbClr val="000000"/>
                </a:solidFill>
                <a:latin typeface="Calibri" pitchFamily="34" charset="0"/>
                <a:ea typeface="Calibri" pitchFamily="34" charset="-122"/>
                <a:cs typeface="Calibri" pitchFamily="34" charset="-120"/>
              </a:rPr>
              <a:t>Transport model on real ocean current data</a:t>
            </a:r>
            <a:endParaRPr lang="en-US" sz="1900" dirty="0"/>
          </a:p>
          <a:p>
            <a:pPr marL="342900" indent="-342900">
              <a:spcAft>
                <a:spcPts val="1600"/>
              </a:spcAft>
              <a:buSzPct val="100000"/>
              <a:buFont typeface="+mj-lt"/>
              <a:buAutoNum type="arabicPeriod" startAt="2"/>
            </a:pPr>
            <a:r>
              <a:rPr lang="en-US" sz="1900" dirty="0">
                <a:solidFill>
                  <a:srgbClr val="000000"/>
                </a:solidFill>
                <a:latin typeface="Calibri" pitchFamily="34" charset="0"/>
                <a:ea typeface="Calibri" pitchFamily="34" charset="-122"/>
                <a:cs typeface="Calibri" pitchFamily="34" charset="-120"/>
              </a:rPr>
              <a:t>Serial baseline plus parallel kernel</a:t>
            </a:r>
            <a:endParaRPr lang="en-US" sz="1900" dirty="0"/>
          </a:p>
        </p:txBody>
      </p:sp>
      <p:sp>
        <p:nvSpPr>
          <p:cNvPr id="9" name="Text 7"/>
          <p:cNvSpPr/>
          <p:nvPr/>
        </p:nvSpPr>
        <p:spPr>
          <a:xfrm>
            <a:off x="6903720" y="4434840"/>
            <a:ext cx="4663440" cy="1828800"/>
          </a:xfrm>
          <a:prstGeom prst="rect">
            <a:avLst/>
          </a:prstGeom>
          <a:noFill/>
          <a:ln/>
        </p:spPr>
        <p:txBody>
          <a:bodyPr wrap="square" rtlCol="0" anchor="t"/>
          <a:lstStyle/>
          <a:p>
            <a:pPr marL="342900" indent="-342900">
              <a:spcAft>
                <a:spcPts val="1600"/>
              </a:spcAft>
              <a:buSzPct val="100000"/>
              <a:buFont typeface="+mj-lt"/>
              <a:buAutoNum type="arabicPeriod" startAt="3"/>
            </a:pPr>
            <a:r>
              <a:rPr lang="en-US" sz="1900" dirty="0">
                <a:solidFill>
                  <a:srgbClr val="000000"/>
                </a:solidFill>
                <a:latin typeface="Calibri" pitchFamily="34" charset="0"/>
                <a:ea typeface="Calibri" pitchFamily="34" charset="-122"/>
                <a:cs typeface="Calibri" pitchFamily="34" charset="-120"/>
              </a:rPr>
              <a:t>Scalability study across particles and cores</a:t>
            </a:r>
            <a:endParaRPr lang="en-US" sz="1900" dirty="0"/>
          </a:p>
          <a:p>
            <a:pPr marL="342900" indent="-342900">
              <a:spcAft>
                <a:spcPts val="1600"/>
              </a:spcAft>
              <a:buSzPct val="100000"/>
              <a:buFont typeface="+mj-lt"/>
              <a:buAutoNum type="arabicPeriod" startAt="4"/>
            </a:pPr>
            <a:r>
              <a:rPr lang="en-US" sz="1900" dirty="0">
                <a:solidFill>
                  <a:srgbClr val="000000"/>
                </a:solidFill>
                <a:latin typeface="Calibri" pitchFamily="34" charset="0"/>
                <a:ea typeface="Calibri" pitchFamily="34" charset="-122"/>
                <a:cs typeface="Calibri" pitchFamily="34" charset="-120"/>
              </a:rPr>
              <a:t>Dispersion maps of accumulation zones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ctr" indent="0" marL="0">
              <a:buNone/>
            </a:pPr>
            <a:r>
              <a:rPr lang="en-US" sz="4000" b="1" u="sng" dirty="0">
                <a:solidFill>
                  <a:srgbClr val="000000"/>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914400" y="1508760"/>
            <a:ext cx="10332720" cy="548640"/>
          </a:xfrm>
          <a:prstGeom prst="rect">
            <a:avLst/>
          </a:prstGeom>
          <a:noFill/>
          <a:ln/>
        </p:spPr>
        <p:txBody>
          <a:bodyPr wrap="square" rtlCol="0" anchor="ctr"/>
          <a:lstStyle/>
          <a:p>
            <a:pPr algn="ctr" indent="0" marL="0">
              <a:buNone/>
            </a:pPr>
            <a:r>
              <a:rPr lang="en-US" sz="3000" u="sng" dirty="0">
                <a:solidFill>
                  <a:srgbClr val="000000"/>
                </a:solidFill>
                <a:latin typeface="Calibri" pitchFamily="34" charset="0"/>
                <a:ea typeface="Calibri" pitchFamily="34" charset="-122"/>
                <a:cs typeface="Calibri" pitchFamily="34" charset="-120"/>
              </a:rPr>
              <a:t>Team members:-</a:t>
            </a:r>
            <a:endParaRPr lang="en-US" sz="3000" dirty="0"/>
          </a:p>
        </p:txBody>
      </p:sp>
      <p:sp>
        <p:nvSpPr>
          <p:cNvPr id="4" name="Text 2"/>
          <p:cNvSpPr/>
          <p:nvPr/>
        </p:nvSpPr>
        <p:spPr>
          <a:xfrm>
            <a:off x="822960" y="2286000"/>
            <a:ext cx="5029200" cy="54864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Batti Akbarali Abbasali - 241IT014</a:t>
            </a:r>
            <a:endParaRPr lang="en-US" sz="2400" dirty="0"/>
          </a:p>
        </p:txBody>
      </p:sp>
      <p:sp>
        <p:nvSpPr>
          <p:cNvPr id="5" name="Text 3"/>
          <p:cNvSpPr/>
          <p:nvPr/>
        </p:nvSpPr>
        <p:spPr>
          <a:xfrm>
            <a:off x="6309360" y="2286000"/>
            <a:ext cx="5029200" cy="54864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Dhruv Agrawal - 241IT026</a:t>
            </a:r>
            <a:endParaRPr lang="en-US" sz="2400" dirty="0"/>
          </a:p>
        </p:txBody>
      </p:sp>
      <p:sp>
        <p:nvSpPr>
          <p:cNvPr id="6" name="Text 4"/>
          <p:cNvSpPr/>
          <p:nvPr/>
        </p:nvSpPr>
        <p:spPr>
          <a:xfrm>
            <a:off x="822960" y="3063240"/>
            <a:ext cx="5029200" cy="54864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Patil Rigved Ramesh - 241IT052</a:t>
            </a:r>
            <a:endParaRPr lang="en-US" sz="2400" dirty="0"/>
          </a:p>
        </p:txBody>
      </p:sp>
      <p:sp>
        <p:nvSpPr>
          <p:cNvPr id="7" name="Text 5"/>
          <p:cNvSpPr/>
          <p:nvPr/>
        </p:nvSpPr>
        <p:spPr>
          <a:xfrm>
            <a:off x="6309360" y="3063240"/>
            <a:ext cx="5029200" cy="54864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Salim Moh - 241IT068</a:t>
            </a:r>
            <a:endParaRPr lang="en-US" sz="2400" dirty="0"/>
          </a:p>
        </p:txBody>
      </p:sp>
      <p:pic>
        <p:nvPicPr>
          <p:cNvPr id="8" name="Image 0" descr="logo.png">    </p:cNvPr>
          <p:cNvPicPr>
            <a:picLocks noChangeAspect="1"/>
          </p:cNvPicPr>
          <p:nvPr/>
        </p:nvPicPr>
        <p:blipFill>
          <a:blip r:embed="rId1"/>
          <a:stretch>
            <a:fillRect/>
          </a:stretch>
        </p:blipFill>
        <p:spPr>
          <a:xfrm>
            <a:off x="5148072" y="4114800"/>
            <a:ext cx="1874520" cy="1737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2026-08-24T00:51:48Z</dcterms:created>
  <dcterms:modified xsi:type="dcterms:W3CDTF">2026-08-24T00:51:48Z</dcterms:modified>
</cp:coreProperties>
</file>